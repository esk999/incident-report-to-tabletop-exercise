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slide" Target="slides/slide1.xml" /><ns0:Relationship Id="rId3" Type="http://schemas.openxmlformats.org/officeDocument/2006/relationships/slide" Target="slides/slide2.xml" /><ns0:Relationship Id="rId4" Type="http://schemas.openxmlformats.org/officeDocument/2006/relationships/slide" Target="slides/slide3.xml" /><ns0:Relationship Id="rId5" Type="http://schemas.openxmlformats.org/officeDocument/2006/relationships/slide" Target="slides/slide4.xml" /><ns0:Relationship Id="rId6" Type="http://schemas.openxmlformats.org/officeDocument/2006/relationships/slide" Target="slides/slide5.xml" /><ns0:Relationship Id="rId8" Type="http://schemas.openxmlformats.org/officeDocument/2006/relationships/presProps" Target="presProps.xml" /><ns0:Relationship Id="rId9" Type="http://schemas.openxmlformats.org/officeDocument/2006/relationships/viewProps" Target="viewProps.xml" /><ns0:Relationship Id="rId10" Type="http://schemas.openxmlformats.org/officeDocument/2006/relationships/theme" Target="theme/theme1.xml" /><ns0:Relationship Id="rId11" Type="http://schemas.openxmlformats.org/officeDocument/2006/relationships/tableStyles" Target="tableStyles.xml"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ns0:Relationships xmlns:ns0="http://schemas.openxmlformats.org/package/2006/relationships"><ns0:Relationship Id="rId1" Type="http://schemas.openxmlformats.org/officeDocument/2006/relationships/slideLayout" Target="../slideLayouts/slideLayout1.xml" /></ns0:Relationships>
</file>

<file path=ppt/slides/_rels/slide2.xml.rels><?xml version='1.0' encoding='utf-8'?>
<ns0:Relationships xmlns:ns0="http://schemas.openxmlformats.org/package/2006/relationships"><ns0:Relationship Id="rId1" Type="http://schemas.openxmlformats.org/officeDocument/2006/relationships/slideLayout" Target="../slideLayouts/slideLayout1.xml" /></ns0:Relationships>
</file>

<file path=ppt/slides/_rels/slide3.xml.rels><?xml version='1.0' encoding='utf-8'?>
<ns0:Relationships xmlns:ns0="http://schemas.openxmlformats.org/package/2006/relationships"><ns0:Relationship Id="rId1" Type="http://schemas.openxmlformats.org/officeDocument/2006/relationships/slideLayout" Target="../slideLayouts/slideLayout1.xml" /></ns0:Relationships>
</file>

<file path=ppt/slides/_rels/slide4.xml.rels><?xml version='1.0' encoding='utf-8'?>
<ns0:Relationships xmlns:ns0="http://schemas.openxmlformats.org/package/2006/relationships"><ns0:Relationship Id="rId1" Type="http://schemas.openxmlformats.org/officeDocument/2006/relationships/slideLayout" Target="../slideLayouts/slideLayout1.xml" /></ns0:Relationships>
</file>

<file path=ppt/slides/_rels/slide5.xml.rels><?xml version='1.0' encoding='utf-8'?>
<ns0:Relationships xmlns:ns0="http://schemas.openxmlformats.org/package/2006/relationships"><ns0:Relationship Id="rId1" Type="http://schemas.openxmlformats.org/officeDocument/2006/relationships/slideLayout" Target="../slideLayouts/slideLayout1.xml" /></ns0: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3657600" cy="502920"/>
          </a:xfrm>
          <a:prstGeom prst="rect">
            <a:avLst/>
          </a:prstGeom>
          <a:noFill/>
          <a:ln/>
        </p:spPr>
        <p:txBody>
          <a:bodyPr wrap="square" lIns="0" tIns="0" rIns="0" bIns="0" rtlCol="0" anchor="ctr">
            <a:normAutofit/>
          </a:bodyPr>
          <a:lstStyle/>
          <a:p>
            <a:pPr indent="0" marL="0">
              <a:buNone/>
            </a:pPr>
            <a:r>
              <a:rPr lang="en-US" sz="3400" b="1" dirty="0">
                <a:solidFill>
                  <a:srgbClr val="17365D"/>
                </a:solidFill>
                <a:latin typeface="Yu Gothic" pitchFamily="34" charset="0"/>
                <a:ea typeface="Yu Gothic" pitchFamily="34" charset="-122"/>
                <a:cs typeface="Yu Gothic" pitchFamily="34" charset="-120"/>
              </a:rPr>
              <a:t>状況付与1</a:t>
            </a:r>
            <a:endParaRPr lang="en-US" sz="3400" dirty="0"/>
          </a:p>
        </p:txBody>
      </p:sp>
      <p:sp>
        <p:nvSpPr>
          <p:cNvPr id="3" name="Text 1"/>
          <p:cNvSpPr/>
          <p:nvPr/>
        </p:nvSpPr>
        <p:spPr>
          <a:xfrm>
            <a:off x="8595360" y="484632"/>
            <a:ext cx="3017520" cy="365760"/>
          </a:xfrm>
          <a:prstGeom prst="rect">
            <a:avLst/>
          </a:prstGeom>
          <a:noFill/>
          <a:ln/>
        </p:spPr>
        <p:txBody>
          <a:bodyPr wrap="square" lIns="0" tIns="0" rIns="0" bIns="0" rtlCol="0" anchor="ctr">
            <a:normAutofit/>
          </a:bodyPr>
          <a:lstStyle/>
          <a:p>
            <a:pPr algn="r" indent="0" marL="0">
              <a:buNone/>
            </a:pPr>
            <a:r>
              <a:rPr lang="en-US" sz="2300" b="1" dirty="0">
                <a:solidFill>
                  <a:srgbClr val="222222"/>
                </a:solidFill>
                <a:latin typeface="Yu Gothic" pitchFamily="34" charset="0"/>
                <a:ea typeface="Yu Gothic" pitchFamily="34" charset="-122"/>
                <a:cs typeface="Yu Gothic" pitchFamily="34" charset="-120"/>
              </a:rPr>
              <a:t>検討時間：15分</a:t>
            </a:r>
            <a:endParaRPr lang="en-US" sz="2300" dirty="0"/>
          </a:p>
        </p:txBody>
      </p:sp>
      <p:sp>
        <p:nvSpPr>
          <p:cNvPr id="4" name="Text 2"/>
          <p:cNvSpPr/>
          <p:nvPr/>
        </p:nvSpPr>
        <p:spPr>
          <a:xfrm>
            <a:off x="822960" y="1207008"/>
            <a:ext cx="10607040" cy="594360"/>
          </a:xfrm>
          <a:prstGeom prst="rect">
            <a:avLst/>
          </a:prstGeom>
          <a:noFill/>
          <a:ln/>
        </p:spPr>
        <p:txBody>
          <a:bodyPr wrap="square" lIns="0" tIns="0" rIns="0" bIns="0" rtlCol="0" anchor="ctr">
            <a:normAutofit/>
          </a:bodyPr>
          <a:lstStyle/>
          <a:p>
            <a:pPr algn="ctr" indent="0" marL="0">
              <a:buNone/>
            </a:pPr>
            <a:r>
              <a:rPr lang="en-US" sz="3000" b="1" dirty="0">
                <a:solidFill>
                  <a:srgbClr val="17365D"/>
                </a:solidFill>
                <a:latin typeface="Yu Gothic" pitchFamily="34" charset="0"/>
                <a:ea typeface="Yu Gothic" pitchFamily="34" charset="-122"/>
                <a:cs typeface="Yu Gothic" pitchFamily="34" charset="-120"/>
              </a:rPr>
              <a:t>境界VPNへの通常外通信</a:t>
            </a:r>
            <a:endParaRPr lang="en-US" sz="3000" dirty="0"/>
          </a:p>
        </p:txBody>
      </p:sp>
      <p:sp>
        <p:nvSpPr>
          <p:cNvPr id="5" name="Shape 3"/>
          <p:cNvSpPr/>
          <p:nvPr/>
        </p:nvSpPr>
        <p:spPr>
          <a:xfrm>
            <a:off x="822960" y="1901952"/>
            <a:ext cx="10607040" cy="0"/>
          </a:xfrm>
          <a:prstGeom prst="line">
            <a:avLst/>
          </a:prstGeom>
          <a:noFill/>
          <a:ln w="12700">
            <a:solidFill>
              <a:srgbClr val="D9D9D9"/>
            </a:solidFill>
            <a:prstDash val="solid"/>
          </a:ln>
        </p:spPr>
      </p:sp>
      <p:sp>
        <p:nvSpPr>
          <p:cNvPr id="6" name="Text 4"/>
          <p:cNvSpPr/>
          <p:nvPr/>
        </p:nvSpPr>
        <p:spPr>
          <a:xfrm>
            <a:off x="822960" y="2084832"/>
            <a:ext cx="1371600" cy="320040"/>
          </a:xfrm>
          <a:prstGeom prst="rect">
            <a:avLst/>
          </a:prstGeom>
          <a:noFill/>
          <a:ln/>
        </p:spPr>
        <p:txBody>
          <a:bodyPr wrap="square" lIns="0" tIns="0" rIns="0" bIns="0" rtlCol="0" anchor="ctr">
            <a:normAutofit/>
          </a:bodyPr>
          <a:lstStyle/>
          <a:p>
            <a:pPr indent="0" marL="0">
              <a:buNone/>
            </a:pPr>
            <a:r>
              <a:rPr lang="en-US" sz="2400" b="1" dirty="0">
                <a:solidFill>
                  <a:srgbClr val="17365D"/>
                </a:solidFill>
                <a:latin typeface="Yu Gothic" pitchFamily="34" charset="0"/>
                <a:ea typeface="Yu Gothic" pitchFamily="34" charset="-122"/>
                <a:cs typeface="Yu Gothic" pitchFamily="34" charset="-120"/>
              </a:rPr>
              <a:t>概要</a:t>
            </a:r>
            <a:endParaRPr lang="en-US" sz="2400" dirty="0"/>
          </a:p>
        </p:txBody>
      </p:sp>
      <p:sp>
        <p:nvSpPr>
          <p:cNvPr id="7" name="Text 5"/>
          <p:cNvSpPr/>
          <p:nvPr/>
        </p:nvSpPr>
        <p:spPr>
          <a:xfrm>
            <a:off x="868680" y="2542032"/>
            <a:ext cx="10469880" cy="2148840"/>
          </a:xfrm>
          <a:prstGeom prst="rect">
            <a:avLst/>
          </a:prstGeom>
          <a:noFill/>
          <a:ln/>
        </p:spPr>
        <p:txBody>
          <a:bodyPr wrap="square" lIns="254" tIns="254" rIns="254" bIns="254" rtlCol="0" anchor="t">
            <a:normAutofit/>
          </a:bodyPr>
          <a:lstStyle/>
          <a:p>
            <a:pPr indent="0" marL="0">
              <a:buNone/>
            </a:pPr>
            <a:r>
              <a:rPr lang="en-US" sz="2200" dirty="0">
                <a:solidFill>
                  <a:srgbClr val="222222"/>
                </a:solidFill>
                <a:latin typeface="Yu Gothic" pitchFamily="34" charset="0"/>
                <a:ea typeface="Yu Gothic" pitchFamily="34" charset="-122"/>
                <a:cs typeface="Yu Gothic" pitchFamily="34" charset="-120"/>
              </a:rPr>
              <a:t>SOCの監視で、UTM(VPN)の公開側に対する外部からの接続が通常より多いことが確認されました。</a:t>
            </a:r>
            <a:endParaRPr lang="en-US" sz="2200" dirty="0"/>
          </a:p>
          <a:p>
            <a:pPr indent="0" marL="0">
              <a:buNone/>
            </a:pPr>
            <a:r>
              <a:rPr lang="en-US" sz="2200" dirty="0">
                <a:solidFill>
                  <a:srgbClr val="222222"/>
                </a:solidFill>
                <a:latin typeface="Yu Gothic" pitchFamily="34" charset="0"/>
                <a:ea typeface="Yu Gothic" pitchFamily="34" charset="-122"/>
                <a:cs typeface="Yu Gothic" pitchFamily="34" charset="-120"/>
              </a:rPr>
              <a:t>training.pcapには、この時間帯の境界装置宛通信が含まれています。</a:t>
            </a:r>
            <a:endParaRPr lang="en-US" sz="2200" dirty="0"/>
          </a:p>
          <a:p>
            <a:pPr indent="0" marL="0">
              <a:buNone/>
            </a:pPr>
            <a:r>
              <a:rPr lang="en-US" sz="2200" dirty="0">
                <a:solidFill>
                  <a:srgbClr val="222222"/>
                </a:solidFill>
                <a:latin typeface="Yu Gothic" pitchFamily="34" charset="0"/>
                <a:ea typeface="Yu Gothic" pitchFamily="34" charset="-122"/>
                <a:cs typeface="Yu Gothic" pitchFamily="34" charset="-120"/>
              </a:rPr>
              <a:t>現時点で、認証の成否や内部侵入の有無は確認されていません。</a:t>
            </a:r>
            <a:endParaRPr lang="en-US" sz="2200" dirty="0"/>
          </a:p>
          <a:p>
            <a:pPr indent="0" marL="0">
              <a:buNone/>
            </a:pPr>
            <a:r>
              <a:rPr lang="en-US" sz="2200" dirty="0">
                <a:solidFill>
                  <a:srgbClr val="222222"/>
                </a:solidFill>
                <a:latin typeface="Yu Gothic" pitchFamily="34" charset="0"/>
                <a:ea typeface="Yu Gothic" pitchFamily="34" charset="-122"/>
                <a:cs typeface="Yu Gothic" pitchFamily="34" charset="-120"/>
              </a:rPr>
              <a:t>ネットワーク構成図とPCAPをもとに、まず確認できる事実を整理してください。</a:t>
            </a:r>
            <a:endParaRPr lang="en-US" sz="2200" dirty="0"/>
          </a:p>
        </p:txBody>
      </p:sp>
      <p:sp>
        <p:nvSpPr>
          <p:cNvPr id="8" name="Shape 6"/>
          <p:cNvSpPr/>
          <p:nvPr/>
        </p:nvSpPr>
        <p:spPr>
          <a:xfrm>
            <a:off x="822960" y="5193792"/>
            <a:ext cx="10607040" cy="1024128"/>
          </a:xfrm>
          <a:prstGeom prst="rect">
            <a:avLst/>
          </a:prstGeom>
          <a:solidFill>
            <a:srgbClr val="F2F2F2"/>
          </a:solidFill>
          <a:ln w="12700">
            <a:solidFill>
              <a:srgbClr val="D9D9D9"/>
            </a:solidFill>
            <a:prstDash val="solid"/>
          </a:ln>
        </p:spPr>
      </p:sp>
      <p:sp>
        <p:nvSpPr>
          <p:cNvPr id="9" name="Text 7"/>
          <p:cNvSpPr/>
          <p:nvPr/>
        </p:nvSpPr>
        <p:spPr>
          <a:xfrm>
            <a:off x="1042416" y="5376672"/>
            <a:ext cx="1325880" cy="320040"/>
          </a:xfrm>
          <a:prstGeom prst="rect">
            <a:avLst/>
          </a:prstGeom>
          <a:noFill/>
          <a:ln/>
        </p:spPr>
        <p:txBody>
          <a:bodyPr wrap="square" lIns="0" tIns="0" rIns="0" bIns="0" rtlCol="0" anchor="ctr">
            <a:normAutofit/>
          </a:bodyPr>
          <a:lstStyle/>
          <a:p>
            <a:pPr indent="0" marL="0">
              <a:buNone/>
            </a:pPr>
            <a:r>
              <a:rPr lang="en-US" sz="2400" b="1" dirty="0">
                <a:solidFill>
                  <a:srgbClr val="17365D"/>
                </a:solidFill>
                <a:latin typeface="Yu Gothic" pitchFamily="34" charset="0"/>
                <a:ea typeface="Yu Gothic" pitchFamily="34" charset="-122"/>
                <a:cs typeface="Yu Gothic" pitchFamily="34" charset="-120"/>
              </a:rPr>
              <a:t>ヒント</a:t>
            </a:r>
            <a:endParaRPr lang="en-US" sz="2400" dirty="0"/>
          </a:p>
        </p:txBody>
      </p:sp>
      <p:sp>
        <p:nvSpPr>
          <p:cNvPr id="10" name="Text 8"/>
          <p:cNvSpPr/>
          <p:nvPr/>
        </p:nvSpPr>
        <p:spPr>
          <a:xfrm>
            <a:off x="2487168" y="5330952"/>
            <a:ext cx="8641080" cy="566928"/>
          </a:xfrm>
          <a:prstGeom prst="rect">
            <a:avLst/>
          </a:prstGeom>
          <a:noFill/>
          <a:ln/>
        </p:spPr>
        <p:txBody>
          <a:bodyPr wrap="square" lIns="254" tIns="254" rIns="254" bIns="254" rtlCol="0" anchor="ctr">
            <a:normAutofit/>
          </a:bodyPr>
          <a:lstStyle/>
          <a:p>
            <a:pPr indent="0" marL="0">
              <a:buNone/>
            </a:pPr>
            <a:r>
              <a:rPr lang="en-US" sz="2000" dirty="0">
                <a:solidFill>
                  <a:srgbClr val="222222"/>
                </a:solidFill>
                <a:latin typeface="Yu Gothic" pitchFamily="34" charset="0"/>
                <a:ea typeface="Yu Gothic" pitchFamily="34" charset="-122"/>
                <a:cs typeface="Yu Gothic" pitchFamily="34" charset="-120"/>
              </a:rPr>
              <a:t>PCAPで確認できる送信元・宛先・プロトコル・通信回数は何か。認証成功といえるか。</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3657600" cy="502920"/>
          </a:xfrm>
          <a:prstGeom prst="rect">
            <a:avLst/>
          </a:prstGeom>
          <a:noFill/>
          <a:ln/>
        </p:spPr>
        <p:txBody>
          <a:bodyPr wrap="square" lIns="0" tIns="0" rIns="0" bIns="0" rtlCol="0" anchor="ctr">
            <a:normAutofit/>
          </a:bodyPr>
          <a:lstStyle/>
          <a:p>
            <a:pPr indent="0" marL="0">
              <a:buNone/>
            </a:pPr>
            <a:r>
              <a:rPr lang="en-US" sz="3400" b="1" dirty="0">
                <a:solidFill>
                  <a:srgbClr val="17365D"/>
                </a:solidFill>
                <a:latin typeface="Yu Gothic" pitchFamily="34" charset="0"/>
                <a:ea typeface="Yu Gothic" pitchFamily="34" charset="-122"/>
                <a:cs typeface="Yu Gothic" pitchFamily="34" charset="-120"/>
              </a:rPr>
              <a:t>状況付与2</a:t>
            </a:r>
            <a:endParaRPr lang="en-US" sz="3400" dirty="0"/>
          </a:p>
        </p:txBody>
      </p:sp>
      <p:sp>
        <p:nvSpPr>
          <p:cNvPr id="3" name="Text 1"/>
          <p:cNvSpPr/>
          <p:nvPr/>
        </p:nvSpPr>
        <p:spPr>
          <a:xfrm>
            <a:off x="8595360" y="484632"/>
            <a:ext cx="3017520" cy="365760"/>
          </a:xfrm>
          <a:prstGeom prst="rect">
            <a:avLst/>
          </a:prstGeom>
          <a:noFill/>
          <a:ln/>
        </p:spPr>
        <p:txBody>
          <a:bodyPr wrap="square" lIns="0" tIns="0" rIns="0" bIns="0" rtlCol="0" anchor="ctr">
            <a:normAutofit/>
          </a:bodyPr>
          <a:lstStyle/>
          <a:p>
            <a:pPr algn="r" indent="0" marL="0">
              <a:buNone/>
            </a:pPr>
            <a:r>
              <a:rPr lang="en-US" sz="2300" b="1" dirty="0">
                <a:solidFill>
                  <a:srgbClr val="222222"/>
                </a:solidFill>
                <a:latin typeface="Yu Gothic" pitchFamily="34" charset="0"/>
                <a:ea typeface="Yu Gothic" pitchFamily="34" charset="-122"/>
                <a:cs typeface="Yu Gothic" pitchFamily="34" charset="-120"/>
              </a:rPr>
              <a:t>検討時間：15分</a:t>
            </a:r>
            <a:endParaRPr lang="en-US" sz="2300" dirty="0"/>
          </a:p>
        </p:txBody>
      </p:sp>
      <p:sp>
        <p:nvSpPr>
          <p:cNvPr id="4" name="Text 2"/>
          <p:cNvSpPr/>
          <p:nvPr/>
        </p:nvSpPr>
        <p:spPr>
          <a:xfrm>
            <a:off x="822960" y="1207008"/>
            <a:ext cx="10607040" cy="594360"/>
          </a:xfrm>
          <a:prstGeom prst="rect">
            <a:avLst/>
          </a:prstGeom>
          <a:noFill/>
          <a:ln/>
        </p:spPr>
        <p:txBody>
          <a:bodyPr wrap="square" lIns="0" tIns="0" rIns="0" bIns="0" rtlCol="0" anchor="ctr">
            <a:normAutofit/>
          </a:bodyPr>
          <a:lstStyle/>
          <a:p>
            <a:pPr algn="ctr" indent="0" marL="0">
              <a:buNone/>
            </a:pPr>
            <a:r>
              <a:rPr lang="en-US" sz="3000" b="1" dirty="0">
                <a:solidFill>
                  <a:srgbClr val="17365D"/>
                </a:solidFill>
                <a:latin typeface="Yu Gothic" pitchFamily="34" charset="0"/>
                <a:ea typeface="Yu Gothic" pitchFamily="34" charset="-122"/>
                <a:cs typeface="Yu Gothic" pitchFamily="34" charset="-120"/>
              </a:rPr>
              <a:t>IT支援端末からの内部通信増加</a:t>
            </a:r>
            <a:endParaRPr lang="en-US" sz="3000" dirty="0"/>
          </a:p>
        </p:txBody>
      </p:sp>
      <p:sp>
        <p:nvSpPr>
          <p:cNvPr id="5" name="Shape 3"/>
          <p:cNvSpPr/>
          <p:nvPr/>
        </p:nvSpPr>
        <p:spPr>
          <a:xfrm>
            <a:off x="822960" y="1901952"/>
            <a:ext cx="10607040" cy="0"/>
          </a:xfrm>
          <a:prstGeom prst="line">
            <a:avLst/>
          </a:prstGeom>
          <a:noFill/>
          <a:ln w="12700">
            <a:solidFill>
              <a:srgbClr val="D9D9D9"/>
            </a:solidFill>
            <a:prstDash val="solid"/>
          </a:ln>
        </p:spPr>
      </p:sp>
      <p:sp>
        <p:nvSpPr>
          <p:cNvPr id="6" name="Text 4"/>
          <p:cNvSpPr/>
          <p:nvPr/>
        </p:nvSpPr>
        <p:spPr>
          <a:xfrm>
            <a:off x="822960" y="2084832"/>
            <a:ext cx="1371600" cy="320040"/>
          </a:xfrm>
          <a:prstGeom prst="rect">
            <a:avLst/>
          </a:prstGeom>
          <a:noFill/>
          <a:ln/>
        </p:spPr>
        <p:txBody>
          <a:bodyPr wrap="square" lIns="0" tIns="0" rIns="0" bIns="0" rtlCol="0" anchor="ctr">
            <a:normAutofit/>
          </a:bodyPr>
          <a:lstStyle/>
          <a:p>
            <a:pPr indent="0" marL="0">
              <a:buNone/>
            </a:pPr>
            <a:r>
              <a:rPr lang="en-US" sz="2400" b="1" dirty="0">
                <a:solidFill>
                  <a:srgbClr val="17365D"/>
                </a:solidFill>
                <a:latin typeface="Yu Gothic" pitchFamily="34" charset="0"/>
                <a:ea typeface="Yu Gothic" pitchFamily="34" charset="-122"/>
                <a:cs typeface="Yu Gothic" pitchFamily="34" charset="-120"/>
              </a:rPr>
              <a:t>概要</a:t>
            </a:r>
            <a:endParaRPr lang="en-US" sz="2400" dirty="0"/>
          </a:p>
        </p:txBody>
      </p:sp>
      <p:sp>
        <p:nvSpPr>
          <p:cNvPr id="7" name="Text 5"/>
          <p:cNvSpPr/>
          <p:nvPr/>
        </p:nvSpPr>
        <p:spPr>
          <a:xfrm>
            <a:off x="868680" y="2542032"/>
            <a:ext cx="10469880" cy="2148840"/>
          </a:xfrm>
          <a:prstGeom prst="rect">
            <a:avLst/>
          </a:prstGeom>
          <a:noFill/>
          <a:ln/>
        </p:spPr>
        <p:txBody>
          <a:bodyPr wrap="square" lIns="254" tIns="254" rIns="254" bIns="254" rtlCol="0" anchor="t">
            <a:normAutofit/>
          </a:bodyPr>
          <a:lstStyle/>
          <a:p>
            <a:pPr indent="0" marL="0">
              <a:buNone/>
            </a:pPr>
            <a:r>
              <a:rPr lang="en-US" sz="2200" dirty="0">
                <a:solidFill>
                  <a:srgbClr val="222222"/>
                </a:solidFill>
                <a:latin typeface="Yu Gothic" pitchFamily="34" charset="0"/>
                <a:ea typeface="Yu Gothic" pitchFamily="34" charset="-122"/>
                <a:cs typeface="Yu Gothic" pitchFamily="34" charset="-120"/>
              </a:rPr>
              <a:t>UTM(VPN)宛通信の後、IT Supportセグメントの1端末から内部サービス宛の通信が目立ちます。</a:t>
            </a:r>
            <a:endParaRPr lang="en-US" sz="2200" dirty="0"/>
          </a:p>
          <a:p>
            <a:pPr indent="0" marL="0">
              <a:buNone/>
            </a:pPr>
            <a:r>
              <a:rPr lang="en-US" sz="2200" dirty="0">
                <a:solidFill>
                  <a:srgbClr val="222222"/>
                </a:solidFill>
                <a:latin typeface="Yu Gothic" pitchFamily="34" charset="0"/>
                <a:ea typeface="Yu Gothic" pitchFamily="34" charset="-122"/>
                <a:cs typeface="Yu Gothic" pitchFamily="34" charset="-120"/>
              </a:rPr>
              <a:t>AD、File Share、複数セグメントの端末宛通信がPCAPで確認できる可能性があります。</a:t>
            </a:r>
            <a:endParaRPr lang="en-US" sz="2200" dirty="0"/>
          </a:p>
          <a:p>
            <a:pPr indent="0" marL="0">
              <a:buNone/>
            </a:pPr>
            <a:r>
              <a:rPr lang="en-US" sz="2200" dirty="0">
                <a:solidFill>
                  <a:srgbClr val="222222"/>
                </a:solidFill>
                <a:latin typeface="Yu Gothic" pitchFamily="34" charset="0"/>
                <a:ea typeface="Yu Gothic" pitchFamily="34" charset="-122"/>
                <a:cs typeface="Yu Gothic" pitchFamily="34" charset="-120"/>
              </a:rPr>
              <a:t>ただし、端末侵害、ログオン成功、端末上のコマンド実行は未確認です。</a:t>
            </a:r>
            <a:endParaRPr lang="en-US" sz="2200" dirty="0"/>
          </a:p>
          <a:p>
            <a:pPr indent="0" marL="0">
              <a:buNone/>
            </a:pPr>
            <a:r>
              <a:rPr lang="en-US" sz="2200" dirty="0">
                <a:solidFill>
                  <a:srgbClr val="222222"/>
                </a:solidFill>
                <a:latin typeface="Yu Gothic" pitchFamily="34" charset="0"/>
                <a:ea typeface="Yu Gothic" pitchFamily="34" charset="-122"/>
                <a:cs typeface="Yu Gothic" pitchFamily="34" charset="-120"/>
              </a:rPr>
              <a:t>通信先と通信方向を整理し、追加確認が必要なログを考えてください。</a:t>
            </a:r>
            <a:endParaRPr lang="en-US" sz="2200" dirty="0"/>
          </a:p>
        </p:txBody>
      </p:sp>
      <p:sp>
        <p:nvSpPr>
          <p:cNvPr id="8" name="Shape 6"/>
          <p:cNvSpPr/>
          <p:nvPr/>
        </p:nvSpPr>
        <p:spPr>
          <a:xfrm>
            <a:off x="822960" y="5193792"/>
            <a:ext cx="10607040" cy="1024128"/>
          </a:xfrm>
          <a:prstGeom prst="rect">
            <a:avLst/>
          </a:prstGeom>
          <a:solidFill>
            <a:srgbClr val="F2F2F2"/>
          </a:solidFill>
          <a:ln w="12700">
            <a:solidFill>
              <a:srgbClr val="D9D9D9"/>
            </a:solidFill>
            <a:prstDash val="solid"/>
          </a:ln>
        </p:spPr>
      </p:sp>
      <p:sp>
        <p:nvSpPr>
          <p:cNvPr id="9" name="Text 7"/>
          <p:cNvSpPr/>
          <p:nvPr/>
        </p:nvSpPr>
        <p:spPr>
          <a:xfrm>
            <a:off x="1042416" y="5376672"/>
            <a:ext cx="1325880" cy="320040"/>
          </a:xfrm>
          <a:prstGeom prst="rect">
            <a:avLst/>
          </a:prstGeom>
          <a:noFill/>
          <a:ln/>
        </p:spPr>
        <p:txBody>
          <a:bodyPr wrap="square" lIns="0" tIns="0" rIns="0" bIns="0" rtlCol="0" anchor="ctr">
            <a:normAutofit/>
          </a:bodyPr>
          <a:lstStyle/>
          <a:p>
            <a:pPr indent="0" marL="0">
              <a:buNone/>
            </a:pPr>
            <a:r>
              <a:rPr lang="en-US" sz="2400" b="1" dirty="0">
                <a:solidFill>
                  <a:srgbClr val="17365D"/>
                </a:solidFill>
                <a:latin typeface="Yu Gothic" pitchFamily="34" charset="0"/>
                <a:ea typeface="Yu Gothic" pitchFamily="34" charset="-122"/>
                <a:cs typeface="Yu Gothic" pitchFamily="34" charset="-120"/>
              </a:rPr>
              <a:t>ヒント</a:t>
            </a:r>
            <a:endParaRPr lang="en-US" sz="2400" dirty="0"/>
          </a:p>
        </p:txBody>
      </p:sp>
      <p:sp>
        <p:nvSpPr>
          <p:cNvPr id="10" name="Text 8"/>
          <p:cNvSpPr/>
          <p:nvPr/>
        </p:nvSpPr>
        <p:spPr>
          <a:xfrm>
            <a:off x="2487168" y="5330952"/>
            <a:ext cx="8641080" cy="566928"/>
          </a:xfrm>
          <a:prstGeom prst="rect">
            <a:avLst/>
          </a:prstGeom>
          <a:noFill/>
          <a:ln/>
        </p:spPr>
        <p:txBody>
          <a:bodyPr wrap="square" lIns="254" tIns="254" rIns="254" bIns="254" rtlCol="0" anchor="ctr">
            <a:normAutofit/>
          </a:bodyPr>
          <a:lstStyle/>
          <a:p>
            <a:pPr indent="0" marL="0">
              <a:buNone/>
            </a:pPr>
            <a:r>
              <a:rPr lang="en-US" sz="2000" dirty="0">
                <a:solidFill>
                  <a:srgbClr val="222222"/>
                </a:solidFill>
                <a:latin typeface="Yu Gothic" pitchFamily="34" charset="0"/>
                <a:ea typeface="Yu Gothic" pitchFamily="34" charset="-122"/>
                <a:cs typeface="Yu Gothic" pitchFamily="34" charset="-120"/>
              </a:rPr>
              <a:t>横展開と断定せず、通信先の役割とPCAPだけでは分からないことを分けてください。</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3657600" cy="502920"/>
          </a:xfrm>
          <a:prstGeom prst="rect">
            <a:avLst/>
          </a:prstGeom>
          <a:noFill/>
          <a:ln/>
        </p:spPr>
        <p:txBody>
          <a:bodyPr wrap="square" lIns="0" tIns="0" rIns="0" bIns="0" rtlCol="0" anchor="ctr">
            <a:normAutofit/>
          </a:bodyPr>
          <a:lstStyle/>
          <a:p>
            <a:pPr indent="0" marL="0">
              <a:buNone/>
            </a:pPr>
            <a:r>
              <a:rPr lang="en-US" sz="3400" b="1" dirty="0">
                <a:solidFill>
                  <a:srgbClr val="17365D"/>
                </a:solidFill>
                <a:latin typeface="Yu Gothic" pitchFamily="34" charset="0"/>
                <a:ea typeface="Yu Gothic" pitchFamily="34" charset="-122"/>
                <a:cs typeface="Yu Gothic" pitchFamily="34" charset="-120"/>
              </a:rPr>
              <a:t>状況付与3</a:t>
            </a:r>
            <a:endParaRPr lang="en-US" sz="3400" dirty="0"/>
          </a:p>
        </p:txBody>
      </p:sp>
      <p:sp>
        <p:nvSpPr>
          <p:cNvPr id="3" name="Text 1"/>
          <p:cNvSpPr/>
          <p:nvPr/>
        </p:nvSpPr>
        <p:spPr>
          <a:xfrm>
            <a:off x="8595360" y="484632"/>
            <a:ext cx="3017520" cy="365760"/>
          </a:xfrm>
          <a:prstGeom prst="rect">
            <a:avLst/>
          </a:prstGeom>
          <a:noFill/>
          <a:ln/>
        </p:spPr>
        <p:txBody>
          <a:bodyPr wrap="square" lIns="0" tIns="0" rIns="0" bIns="0" rtlCol="0" anchor="ctr">
            <a:normAutofit/>
          </a:bodyPr>
          <a:lstStyle/>
          <a:p>
            <a:pPr algn="r" indent="0" marL="0">
              <a:buNone/>
            </a:pPr>
            <a:r>
              <a:rPr lang="en-US" sz="2300" b="1" dirty="0">
                <a:solidFill>
                  <a:srgbClr val="222222"/>
                </a:solidFill>
                <a:latin typeface="Yu Gothic" pitchFamily="34" charset="0"/>
                <a:ea typeface="Yu Gothic" pitchFamily="34" charset="-122"/>
                <a:cs typeface="Yu Gothic" pitchFamily="34" charset="-120"/>
              </a:rPr>
              <a:t>検討時間：20分</a:t>
            </a:r>
            <a:endParaRPr lang="en-US" sz="2300" dirty="0"/>
          </a:p>
        </p:txBody>
      </p:sp>
      <p:sp>
        <p:nvSpPr>
          <p:cNvPr id="4" name="Text 2"/>
          <p:cNvSpPr/>
          <p:nvPr/>
        </p:nvSpPr>
        <p:spPr>
          <a:xfrm>
            <a:off x="822960" y="1207008"/>
            <a:ext cx="10607040" cy="594360"/>
          </a:xfrm>
          <a:prstGeom prst="rect">
            <a:avLst/>
          </a:prstGeom>
          <a:noFill/>
          <a:ln/>
        </p:spPr>
        <p:txBody>
          <a:bodyPr wrap="square" lIns="0" tIns="0" rIns="0" bIns="0" rtlCol="0" anchor="ctr">
            <a:normAutofit/>
          </a:bodyPr>
          <a:lstStyle/>
          <a:p>
            <a:pPr algn="ctr" indent="0" marL="0">
              <a:buNone/>
            </a:pPr>
            <a:r>
              <a:rPr lang="en-US" sz="3000" b="1" dirty="0">
                <a:solidFill>
                  <a:srgbClr val="17365D"/>
                </a:solidFill>
                <a:latin typeface="Yu Gothic" pitchFamily="34" charset="0"/>
                <a:ea typeface="Yu Gothic" pitchFamily="34" charset="-122"/>
                <a:cs typeface="Yu Gothic" pitchFamily="34" charset="-120"/>
              </a:rPr>
              <a:t>共有ファイル周辺の通信増加</a:t>
            </a:r>
            <a:endParaRPr lang="en-US" sz="3000" dirty="0"/>
          </a:p>
        </p:txBody>
      </p:sp>
      <p:sp>
        <p:nvSpPr>
          <p:cNvPr id="5" name="Shape 3"/>
          <p:cNvSpPr/>
          <p:nvPr/>
        </p:nvSpPr>
        <p:spPr>
          <a:xfrm>
            <a:off x="822960" y="1901952"/>
            <a:ext cx="10607040" cy="0"/>
          </a:xfrm>
          <a:prstGeom prst="line">
            <a:avLst/>
          </a:prstGeom>
          <a:noFill/>
          <a:ln w="12700">
            <a:solidFill>
              <a:srgbClr val="D9D9D9"/>
            </a:solidFill>
            <a:prstDash val="solid"/>
          </a:ln>
        </p:spPr>
      </p:sp>
      <p:sp>
        <p:nvSpPr>
          <p:cNvPr id="6" name="Text 4"/>
          <p:cNvSpPr/>
          <p:nvPr/>
        </p:nvSpPr>
        <p:spPr>
          <a:xfrm>
            <a:off x="822960" y="2084832"/>
            <a:ext cx="1371600" cy="320040"/>
          </a:xfrm>
          <a:prstGeom prst="rect">
            <a:avLst/>
          </a:prstGeom>
          <a:noFill/>
          <a:ln/>
        </p:spPr>
        <p:txBody>
          <a:bodyPr wrap="square" lIns="0" tIns="0" rIns="0" bIns="0" rtlCol="0" anchor="ctr">
            <a:normAutofit/>
          </a:bodyPr>
          <a:lstStyle/>
          <a:p>
            <a:pPr indent="0" marL="0">
              <a:buNone/>
            </a:pPr>
            <a:r>
              <a:rPr lang="en-US" sz="2400" b="1" dirty="0">
                <a:solidFill>
                  <a:srgbClr val="17365D"/>
                </a:solidFill>
                <a:latin typeface="Yu Gothic" pitchFamily="34" charset="0"/>
                <a:ea typeface="Yu Gothic" pitchFamily="34" charset="-122"/>
                <a:cs typeface="Yu Gothic" pitchFamily="34" charset="-120"/>
              </a:rPr>
              <a:t>概要</a:t>
            </a:r>
            <a:endParaRPr lang="en-US" sz="2400" dirty="0"/>
          </a:p>
        </p:txBody>
      </p:sp>
      <p:sp>
        <p:nvSpPr>
          <p:cNvPr id="7" name="Text 5"/>
          <p:cNvSpPr/>
          <p:nvPr/>
        </p:nvSpPr>
        <p:spPr>
          <a:xfrm>
            <a:off x="868680" y="2542032"/>
            <a:ext cx="10469880" cy="2148840"/>
          </a:xfrm>
          <a:prstGeom prst="rect">
            <a:avLst/>
          </a:prstGeom>
          <a:noFill/>
          <a:ln/>
        </p:spPr>
        <p:txBody>
          <a:bodyPr wrap="square" lIns="254" tIns="254" rIns="254" bIns="254" rtlCol="0" anchor="t">
            <a:normAutofit/>
          </a:bodyPr>
          <a:lstStyle/>
          <a:p>
            <a:pPr indent="0" marL="0">
              <a:buNone/>
            </a:pPr>
            <a:r>
              <a:rPr lang="en-US" sz="2200" dirty="0">
                <a:solidFill>
                  <a:srgbClr val="222222"/>
                </a:solidFill>
                <a:latin typeface="Yu Gothic" pitchFamily="34" charset="0"/>
                <a:ea typeface="Yu Gothic" pitchFamily="34" charset="-122"/>
                <a:cs typeface="Yu Gothic" pitchFamily="34" charset="-120"/>
              </a:rPr>
              <a:t>FILE-SRV-01へのSMB通信が複数セグメントから増加しています。</a:t>
            </a:r>
            <a:endParaRPr lang="en-US" sz="2200" dirty="0"/>
          </a:p>
          <a:p>
            <a:pPr indent="0" marL="0">
              <a:buNone/>
            </a:pPr>
            <a:r>
              <a:rPr lang="en-US" sz="2200" dirty="0">
                <a:solidFill>
                  <a:srgbClr val="222222"/>
                </a:solidFill>
                <a:latin typeface="Yu Gothic" pitchFamily="34" charset="0"/>
                <a:ea typeface="Yu Gothic" pitchFamily="34" charset="-122"/>
                <a:cs typeface="Yu Gothic" pitchFamily="34" charset="-120"/>
              </a:rPr>
              <a:t>複数部門から、共有フォルダの表示遅延やファイル名の違和感に関する問い合わせが入りました。</a:t>
            </a:r>
            <a:endParaRPr lang="en-US" sz="2200" dirty="0"/>
          </a:p>
          <a:p>
            <a:pPr indent="0" marL="0">
              <a:buNone/>
            </a:pPr>
            <a:r>
              <a:rPr lang="en-US" sz="2200" dirty="0">
                <a:solidFill>
                  <a:srgbClr val="222222"/>
                </a:solidFill>
                <a:latin typeface="Yu Gothic" pitchFamily="34" charset="0"/>
                <a:ea typeface="Yu Gothic" pitchFamily="34" charset="-122"/>
                <a:cs typeface="Yu Gothic" pitchFamily="34" charset="-120"/>
              </a:rPr>
              <a:t>PCAPでは通信量や方向は確認できますが、ファイル内容の変化やコピーは断定できません。</a:t>
            </a:r>
            <a:endParaRPr lang="en-US" sz="2200" dirty="0"/>
          </a:p>
          <a:p>
            <a:pPr indent="0" marL="0">
              <a:buNone/>
            </a:pPr>
            <a:r>
              <a:rPr lang="en-US" sz="2200" dirty="0">
                <a:solidFill>
                  <a:srgbClr val="222222"/>
                </a:solidFill>
                <a:latin typeface="Yu Gothic" pitchFamily="34" charset="0"/>
                <a:ea typeface="Yu Gothic" pitchFamily="34" charset="-122"/>
                <a:cs typeface="Yu Gothic" pitchFamily="34" charset="-120"/>
              </a:rPr>
              <a:t>業務影響の範囲と追加確認事項を整理してください。</a:t>
            </a:r>
            <a:endParaRPr lang="en-US" sz="2200" dirty="0"/>
          </a:p>
        </p:txBody>
      </p:sp>
      <p:sp>
        <p:nvSpPr>
          <p:cNvPr id="8" name="Shape 6"/>
          <p:cNvSpPr/>
          <p:nvPr/>
        </p:nvSpPr>
        <p:spPr>
          <a:xfrm>
            <a:off x="822960" y="5193792"/>
            <a:ext cx="10607040" cy="1024128"/>
          </a:xfrm>
          <a:prstGeom prst="rect">
            <a:avLst/>
          </a:prstGeom>
          <a:solidFill>
            <a:srgbClr val="F2F2F2"/>
          </a:solidFill>
          <a:ln w="12700">
            <a:solidFill>
              <a:srgbClr val="D9D9D9"/>
            </a:solidFill>
            <a:prstDash val="solid"/>
          </a:ln>
        </p:spPr>
      </p:sp>
      <p:sp>
        <p:nvSpPr>
          <p:cNvPr id="9" name="Text 7"/>
          <p:cNvSpPr/>
          <p:nvPr/>
        </p:nvSpPr>
        <p:spPr>
          <a:xfrm>
            <a:off x="1042416" y="5376672"/>
            <a:ext cx="1325880" cy="320040"/>
          </a:xfrm>
          <a:prstGeom prst="rect">
            <a:avLst/>
          </a:prstGeom>
          <a:noFill/>
          <a:ln/>
        </p:spPr>
        <p:txBody>
          <a:bodyPr wrap="square" lIns="0" tIns="0" rIns="0" bIns="0" rtlCol="0" anchor="ctr">
            <a:normAutofit/>
          </a:bodyPr>
          <a:lstStyle/>
          <a:p>
            <a:pPr indent="0" marL="0">
              <a:buNone/>
            </a:pPr>
            <a:r>
              <a:rPr lang="en-US" sz="2400" b="1" dirty="0">
                <a:solidFill>
                  <a:srgbClr val="17365D"/>
                </a:solidFill>
                <a:latin typeface="Yu Gothic" pitchFamily="34" charset="0"/>
                <a:ea typeface="Yu Gothic" pitchFamily="34" charset="-122"/>
                <a:cs typeface="Yu Gothic" pitchFamily="34" charset="-120"/>
              </a:rPr>
              <a:t>ヒント</a:t>
            </a:r>
            <a:endParaRPr lang="en-US" sz="2400" dirty="0"/>
          </a:p>
        </p:txBody>
      </p:sp>
      <p:sp>
        <p:nvSpPr>
          <p:cNvPr id="10" name="Text 8"/>
          <p:cNvSpPr/>
          <p:nvPr/>
        </p:nvSpPr>
        <p:spPr>
          <a:xfrm>
            <a:off x="2487168" y="5330952"/>
            <a:ext cx="8641080" cy="566928"/>
          </a:xfrm>
          <a:prstGeom prst="rect">
            <a:avLst/>
          </a:prstGeom>
          <a:noFill/>
          <a:ln/>
        </p:spPr>
        <p:txBody>
          <a:bodyPr wrap="square" lIns="254" tIns="254" rIns="254" bIns="254" rtlCol="0" anchor="ctr">
            <a:normAutofit/>
          </a:bodyPr>
          <a:lstStyle/>
          <a:p>
            <a:pPr indent="0" marL="0">
              <a:buNone/>
            </a:pPr>
            <a:r>
              <a:rPr lang="en-US" sz="2000" dirty="0">
                <a:solidFill>
                  <a:srgbClr val="222222"/>
                </a:solidFill>
                <a:latin typeface="Yu Gothic" pitchFamily="34" charset="0"/>
                <a:ea typeface="Yu Gothic" pitchFamily="34" charset="-122"/>
                <a:cs typeface="Yu Gothic" pitchFamily="34" charset="-120"/>
              </a:rPr>
              <a:t>通信量・方向と、ファイルサーバーや端末側ログで確認すべきことは何か。</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3657600" cy="502920"/>
          </a:xfrm>
          <a:prstGeom prst="rect">
            <a:avLst/>
          </a:prstGeom>
          <a:noFill/>
          <a:ln/>
        </p:spPr>
        <p:txBody>
          <a:bodyPr wrap="square" lIns="0" tIns="0" rIns="0" bIns="0" rtlCol="0" anchor="ctr">
            <a:normAutofit/>
          </a:bodyPr>
          <a:lstStyle/>
          <a:p>
            <a:pPr indent="0" marL="0">
              <a:buNone/>
            </a:pPr>
            <a:r>
              <a:rPr lang="en-US" sz="3400" b="1" dirty="0">
                <a:solidFill>
                  <a:srgbClr val="17365D"/>
                </a:solidFill>
                <a:latin typeface="Yu Gothic" pitchFamily="34" charset="0"/>
                <a:ea typeface="Yu Gothic" pitchFamily="34" charset="-122"/>
                <a:cs typeface="Yu Gothic" pitchFamily="34" charset="-120"/>
              </a:rPr>
              <a:t>状況付与4</a:t>
            </a:r>
            <a:endParaRPr lang="en-US" sz="3400" dirty="0"/>
          </a:p>
        </p:txBody>
      </p:sp>
      <p:sp>
        <p:nvSpPr>
          <p:cNvPr id="3" name="Text 1"/>
          <p:cNvSpPr/>
          <p:nvPr/>
        </p:nvSpPr>
        <p:spPr>
          <a:xfrm>
            <a:off x="8595360" y="484632"/>
            <a:ext cx="3017520" cy="365760"/>
          </a:xfrm>
          <a:prstGeom prst="rect">
            <a:avLst/>
          </a:prstGeom>
          <a:noFill/>
          <a:ln/>
        </p:spPr>
        <p:txBody>
          <a:bodyPr wrap="square" lIns="0" tIns="0" rIns="0" bIns="0" rtlCol="0" anchor="ctr">
            <a:normAutofit/>
          </a:bodyPr>
          <a:lstStyle/>
          <a:p>
            <a:pPr algn="r" indent="0" marL="0">
              <a:buNone/>
            </a:pPr>
            <a:r>
              <a:rPr lang="en-US" sz="2300" b="1" dirty="0">
                <a:solidFill>
                  <a:srgbClr val="222222"/>
                </a:solidFill>
                <a:latin typeface="Yu Gothic" pitchFamily="34" charset="0"/>
                <a:ea typeface="Yu Gothic" pitchFamily="34" charset="-122"/>
                <a:cs typeface="Yu Gothic" pitchFamily="34" charset="-120"/>
              </a:rPr>
              <a:t>検討時間：20分</a:t>
            </a:r>
            <a:endParaRPr lang="en-US" sz="2300" dirty="0"/>
          </a:p>
        </p:txBody>
      </p:sp>
      <p:sp>
        <p:nvSpPr>
          <p:cNvPr id="4" name="Text 2"/>
          <p:cNvSpPr/>
          <p:nvPr/>
        </p:nvSpPr>
        <p:spPr>
          <a:xfrm>
            <a:off x="822960" y="1207008"/>
            <a:ext cx="10607040" cy="594360"/>
          </a:xfrm>
          <a:prstGeom prst="rect">
            <a:avLst/>
          </a:prstGeom>
          <a:noFill/>
          <a:ln/>
        </p:spPr>
        <p:txBody>
          <a:bodyPr wrap="square" lIns="0" tIns="0" rIns="0" bIns="0" rtlCol="0" anchor="ctr">
            <a:normAutofit/>
          </a:bodyPr>
          <a:lstStyle/>
          <a:p>
            <a:pPr algn="ctr" indent="0" marL="0">
              <a:buNone/>
            </a:pPr>
            <a:r>
              <a:rPr lang="en-US" sz="3000" b="1" dirty="0">
                <a:solidFill>
                  <a:srgbClr val="17365D"/>
                </a:solidFill>
                <a:latin typeface="Yu Gothic" pitchFamily="34" charset="0"/>
                <a:ea typeface="Yu Gothic" pitchFamily="34" charset="-122"/>
                <a:cs typeface="Yu Gothic" pitchFamily="34" charset="-120"/>
              </a:rPr>
              <a:t>複数部門での業務影響報告</a:t>
            </a:r>
            <a:endParaRPr lang="en-US" sz="3000" dirty="0"/>
          </a:p>
        </p:txBody>
      </p:sp>
      <p:sp>
        <p:nvSpPr>
          <p:cNvPr id="5" name="Shape 3"/>
          <p:cNvSpPr/>
          <p:nvPr/>
        </p:nvSpPr>
        <p:spPr>
          <a:xfrm>
            <a:off x="822960" y="1901952"/>
            <a:ext cx="10607040" cy="0"/>
          </a:xfrm>
          <a:prstGeom prst="line">
            <a:avLst/>
          </a:prstGeom>
          <a:noFill/>
          <a:ln w="12700">
            <a:solidFill>
              <a:srgbClr val="D9D9D9"/>
            </a:solidFill>
            <a:prstDash val="solid"/>
          </a:ln>
        </p:spPr>
      </p:sp>
      <p:sp>
        <p:nvSpPr>
          <p:cNvPr id="6" name="Text 4"/>
          <p:cNvSpPr/>
          <p:nvPr/>
        </p:nvSpPr>
        <p:spPr>
          <a:xfrm>
            <a:off x="822960" y="2084832"/>
            <a:ext cx="1371600" cy="320040"/>
          </a:xfrm>
          <a:prstGeom prst="rect">
            <a:avLst/>
          </a:prstGeom>
          <a:noFill/>
          <a:ln/>
        </p:spPr>
        <p:txBody>
          <a:bodyPr wrap="square" lIns="0" tIns="0" rIns="0" bIns="0" rtlCol="0" anchor="ctr">
            <a:normAutofit/>
          </a:bodyPr>
          <a:lstStyle/>
          <a:p>
            <a:pPr indent="0" marL="0">
              <a:buNone/>
            </a:pPr>
            <a:r>
              <a:rPr lang="en-US" sz="2400" b="1" dirty="0">
                <a:solidFill>
                  <a:srgbClr val="17365D"/>
                </a:solidFill>
                <a:latin typeface="Yu Gothic" pitchFamily="34" charset="0"/>
                <a:ea typeface="Yu Gothic" pitchFamily="34" charset="-122"/>
                <a:cs typeface="Yu Gothic" pitchFamily="34" charset="-120"/>
              </a:rPr>
              <a:t>概要</a:t>
            </a:r>
            <a:endParaRPr lang="en-US" sz="2400" dirty="0"/>
          </a:p>
        </p:txBody>
      </p:sp>
      <p:sp>
        <p:nvSpPr>
          <p:cNvPr id="7" name="Text 5"/>
          <p:cNvSpPr/>
          <p:nvPr/>
        </p:nvSpPr>
        <p:spPr>
          <a:xfrm>
            <a:off x="868680" y="2542032"/>
            <a:ext cx="10469880" cy="2148840"/>
          </a:xfrm>
          <a:prstGeom prst="rect">
            <a:avLst/>
          </a:prstGeom>
          <a:noFill/>
          <a:ln/>
        </p:spPr>
        <p:txBody>
          <a:bodyPr wrap="square" lIns="254" tIns="254" rIns="254" bIns="254" rtlCol="0" anchor="t">
            <a:normAutofit/>
          </a:bodyPr>
          <a:lstStyle/>
          <a:p>
            <a:pPr indent="0" marL="0">
              <a:buNone/>
            </a:pPr>
            <a:r>
              <a:rPr lang="en-US" sz="2200" dirty="0">
                <a:solidFill>
                  <a:srgbClr val="222222"/>
                </a:solidFill>
                <a:latin typeface="Yu Gothic" pitchFamily="34" charset="0"/>
                <a:ea typeface="Yu Gothic" pitchFamily="34" charset="-122"/>
                <a:cs typeface="Yu Gothic" pitchFamily="34" charset="-120"/>
              </a:rPr>
              <a:t>Accounting、Sales、Developmentから、業務ファイルや共有フォルダの利用に関する問い合わせが続いています。</a:t>
            </a:r>
            <a:endParaRPr lang="en-US" sz="2200" dirty="0"/>
          </a:p>
          <a:p>
            <a:pPr indent="0" marL="0">
              <a:buNone/>
            </a:pPr>
            <a:r>
              <a:rPr lang="en-US" sz="2200" dirty="0">
                <a:solidFill>
                  <a:srgbClr val="222222"/>
                </a:solidFill>
                <a:latin typeface="Yu Gothic" pitchFamily="34" charset="0"/>
                <a:ea typeface="Yu Gothic" pitchFamily="34" charset="-122"/>
                <a:cs typeface="Yu Gothic" pitchFamily="34" charset="-120"/>
              </a:rPr>
              <a:t>AD-SRV-01とFILE-SRV-01の利用継続可否に注意が必要です。</a:t>
            </a:r>
            <a:endParaRPr lang="en-US" sz="2200" dirty="0"/>
          </a:p>
          <a:p>
            <a:pPr indent="0" marL="0">
              <a:buNone/>
            </a:pPr>
            <a:r>
              <a:rPr lang="en-US" sz="2200" dirty="0">
                <a:solidFill>
                  <a:srgbClr val="222222"/>
                </a:solidFill>
                <a:latin typeface="Yu Gothic" pitchFamily="34" charset="0"/>
                <a:ea typeface="Yu Gothic" pitchFamily="34" charset="-122"/>
                <a:cs typeface="Yu Gothic" pitchFamily="34" charset="-120"/>
              </a:rPr>
              <a:t>影響拡大を抑えながら、証跡を失わない初動判断が求められます。</a:t>
            </a:r>
            <a:endParaRPr lang="en-US" sz="2200" dirty="0"/>
          </a:p>
          <a:p>
            <a:pPr indent="0" marL="0">
              <a:buNone/>
            </a:pPr>
            <a:r>
              <a:rPr lang="en-US" sz="2200" dirty="0">
                <a:solidFill>
                  <a:srgbClr val="222222"/>
                </a:solidFill>
                <a:latin typeface="Yu Gothic" pitchFamily="34" charset="0"/>
                <a:ea typeface="Yu Gothic" pitchFamily="34" charset="-122"/>
                <a:cs typeface="Yu Gothic" pitchFamily="34" charset="-120"/>
              </a:rPr>
              <a:t>原因や影響範囲はまだ確定していません。</a:t>
            </a:r>
            <a:endParaRPr lang="en-US" sz="2200" dirty="0"/>
          </a:p>
        </p:txBody>
      </p:sp>
      <p:sp>
        <p:nvSpPr>
          <p:cNvPr id="8" name="Shape 6"/>
          <p:cNvSpPr/>
          <p:nvPr/>
        </p:nvSpPr>
        <p:spPr>
          <a:xfrm>
            <a:off x="822960" y="5193792"/>
            <a:ext cx="10607040" cy="1024128"/>
          </a:xfrm>
          <a:prstGeom prst="rect">
            <a:avLst/>
          </a:prstGeom>
          <a:solidFill>
            <a:srgbClr val="F2F2F2"/>
          </a:solidFill>
          <a:ln w="12700">
            <a:solidFill>
              <a:srgbClr val="D9D9D9"/>
            </a:solidFill>
            <a:prstDash val="solid"/>
          </a:ln>
        </p:spPr>
      </p:sp>
      <p:sp>
        <p:nvSpPr>
          <p:cNvPr id="9" name="Text 7"/>
          <p:cNvSpPr/>
          <p:nvPr/>
        </p:nvSpPr>
        <p:spPr>
          <a:xfrm>
            <a:off x="1042416" y="5376672"/>
            <a:ext cx="1325880" cy="320040"/>
          </a:xfrm>
          <a:prstGeom prst="rect">
            <a:avLst/>
          </a:prstGeom>
          <a:noFill/>
          <a:ln/>
        </p:spPr>
        <p:txBody>
          <a:bodyPr wrap="square" lIns="0" tIns="0" rIns="0" bIns="0" rtlCol="0" anchor="ctr">
            <a:normAutofit/>
          </a:bodyPr>
          <a:lstStyle/>
          <a:p>
            <a:pPr indent="0" marL="0">
              <a:buNone/>
            </a:pPr>
            <a:r>
              <a:rPr lang="en-US" sz="2400" b="1" dirty="0">
                <a:solidFill>
                  <a:srgbClr val="17365D"/>
                </a:solidFill>
                <a:latin typeface="Yu Gothic" pitchFamily="34" charset="0"/>
                <a:ea typeface="Yu Gothic" pitchFamily="34" charset="-122"/>
                <a:cs typeface="Yu Gothic" pitchFamily="34" charset="-120"/>
              </a:rPr>
              <a:t>ヒント</a:t>
            </a:r>
            <a:endParaRPr lang="en-US" sz="2400" dirty="0"/>
          </a:p>
        </p:txBody>
      </p:sp>
      <p:sp>
        <p:nvSpPr>
          <p:cNvPr id="10" name="Text 8"/>
          <p:cNvSpPr/>
          <p:nvPr/>
        </p:nvSpPr>
        <p:spPr>
          <a:xfrm>
            <a:off x="2487168" y="5330952"/>
            <a:ext cx="8641080" cy="566928"/>
          </a:xfrm>
          <a:prstGeom prst="rect">
            <a:avLst/>
          </a:prstGeom>
          <a:noFill/>
          <a:ln/>
        </p:spPr>
        <p:txBody>
          <a:bodyPr wrap="square" lIns="254" tIns="254" rIns="254" bIns="254" rtlCol="0" anchor="ctr">
            <a:normAutofit/>
          </a:bodyPr>
          <a:lstStyle/>
          <a:p>
            <a:pPr indent="0" marL="0">
              <a:buNone/>
            </a:pPr>
            <a:r>
              <a:rPr lang="en-US" sz="2000" dirty="0">
                <a:solidFill>
                  <a:srgbClr val="222222"/>
                </a:solidFill>
                <a:latin typeface="Yu Gothic" pitchFamily="34" charset="0"/>
                <a:ea typeface="Yu Gothic" pitchFamily="34" charset="-122"/>
                <a:cs typeface="Yu Gothic" pitchFamily="34" charset="-120"/>
              </a:rPr>
              <a:t>隔離・ログ保全・共有先を、根拠と不確実性に分けて整理してください。</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3657600" cy="502920"/>
          </a:xfrm>
          <a:prstGeom prst="rect">
            <a:avLst/>
          </a:prstGeom>
          <a:noFill/>
          <a:ln/>
        </p:spPr>
        <p:txBody>
          <a:bodyPr wrap="square" lIns="0" tIns="0" rIns="0" bIns="0" rtlCol="0" anchor="ctr">
            <a:normAutofit/>
          </a:bodyPr>
          <a:lstStyle/>
          <a:p>
            <a:pPr indent="0" marL="0">
              <a:buNone/>
            </a:pPr>
            <a:r>
              <a:rPr lang="en-US" sz="3400" b="1" dirty="0">
                <a:solidFill>
                  <a:srgbClr val="17365D"/>
                </a:solidFill>
                <a:latin typeface="Yu Gothic" pitchFamily="34" charset="0"/>
                <a:ea typeface="Yu Gothic" pitchFamily="34" charset="-122"/>
                <a:cs typeface="Yu Gothic" pitchFamily="34" charset="-120"/>
              </a:rPr>
              <a:t>状況付与5</a:t>
            </a:r>
            <a:endParaRPr lang="en-US" sz="3400" dirty="0"/>
          </a:p>
        </p:txBody>
      </p:sp>
      <p:sp>
        <p:nvSpPr>
          <p:cNvPr id="3" name="Text 1"/>
          <p:cNvSpPr/>
          <p:nvPr/>
        </p:nvSpPr>
        <p:spPr>
          <a:xfrm>
            <a:off x="8595360" y="484632"/>
            <a:ext cx="3017520" cy="365760"/>
          </a:xfrm>
          <a:prstGeom prst="rect">
            <a:avLst/>
          </a:prstGeom>
          <a:noFill/>
          <a:ln/>
        </p:spPr>
        <p:txBody>
          <a:bodyPr wrap="square" lIns="0" tIns="0" rIns="0" bIns="0" rtlCol="0" anchor="ctr">
            <a:normAutofit/>
          </a:bodyPr>
          <a:lstStyle/>
          <a:p>
            <a:pPr algn="r" indent="0" marL="0">
              <a:buNone/>
            </a:pPr>
            <a:r>
              <a:rPr lang="en-US" sz="2300" b="1" dirty="0">
                <a:solidFill>
                  <a:srgbClr val="222222"/>
                </a:solidFill>
                <a:latin typeface="Yu Gothic" pitchFamily="34" charset="0"/>
                <a:ea typeface="Yu Gothic" pitchFamily="34" charset="-122"/>
                <a:cs typeface="Yu Gothic" pitchFamily="34" charset="-120"/>
              </a:rPr>
              <a:t>検討時間：20分</a:t>
            </a:r>
            <a:endParaRPr lang="en-US" sz="2300" dirty="0"/>
          </a:p>
        </p:txBody>
      </p:sp>
      <p:sp>
        <p:nvSpPr>
          <p:cNvPr id="4" name="Text 2"/>
          <p:cNvSpPr/>
          <p:nvPr/>
        </p:nvSpPr>
        <p:spPr>
          <a:xfrm>
            <a:off x="822960" y="1207008"/>
            <a:ext cx="10607040" cy="594360"/>
          </a:xfrm>
          <a:prstGeom prst="rect">
            <a:avLst/>
          </a:prstGeom>
          <a:noFill/>
          <a:ln/>
        </p:spPr>
        <p:txBody>
          <a:bodyPr wrap="square" lIns="0" tIns="0" rIns="0" bIns="0" rtlCol="0" anchor="ctr">
            <a:normAutofit/>
          </a:bodyPr>
          <a:lstStyle/>
          <a:p>
            <a:pPr algn="ctr" indent="0" marL="0">
              <a:buNone/>
            </a:pPr>
            <a:r>
              <a:rPr lang="en-US" sz="3000" b="1" dirty="0">
                <a:solidFill>
                  <a:srgbClr val="17365D"/>
                </a:solidFill>
                <a:latin typeface="Yu Gothic" pitchFamily="34" charset="0"/>
                <a:ea typeface="Yu Gothic" pitchFamily="34" charset="-122"/>
                <a:cs typeface="Yu Gothic" pitchFamily="34" charset="-120"/>
              </a:rPr>
              <a:t>初動対応案と共有判断の整理</a:t>
            </a:r>
            <a:endParaRPr lang="en-US" sz="3000" dirty="0"/>
          </a:p>
        </p:txBody>
      </p:sp>
      <p:sp>
        <p:nvSpPr>
          <p:cNvPr id="5" name="Shape 3"/>
          <p:cNvSpPr/>
          <p:nvPr/>
        </p:nvSpPr>
        <p:spPr>
          <a:xfrm>
            <a:off x="822960" y="1901952"/>
            <a:ext cx="10607040" cy="0"/>
          </a:xfrm>
          <a:prstGeom prst="line">
            <a:avLst/>
          </a:prstGeom>
          <a:noFill/>
          <a:ln w="12700">
            <a:solidFill>
              <a:srgbClr val="D9D9D9"/>
            </a:solidFill>
            <a:prstDash val="solid"/>
          </a:ln>
        </p:spPr>
      </p:sp>
      <p:sp>
        <p:nvSpPr>
          <p:cNvPr id="6" name="Text 4"/>
          <p:cNvSpPr/>
          <p:nvPr/>
        </p:nvSpPr>
        <p:spPr>
          <a:xfrm>
            <a:off x="822960" y="2084832"/>
            <a:ext cx="1371600" cy="320040"/>
          </a:xfrm>
          <a:prstGeom prst="rect">
            <a:avLst/>
          </a:prstGeom>
          <a:noFill/>
          <a:ln/>
        </p:spPr>
        <p:txBody>
          <a:bodyPr wrap="square" lIns="0" tIns="0" rIns="0" bIns="0" rtlCol="0" anchor="ctr">
            <a:normAutofit/>
          </a:bodyPr>
          <a:lstStyle/>
          <a:p>
            <a:pPr indent="0" marL="0">
              <a:buNone/>
            </a:pPr>
            <a:r>
              <a:rPr lang="en-US" sz="2400" b="1" dirty="0">
                <a:solidFill>
                  <a:srgbClr val="17365D"/>
                </a:solidFill>
                <a:latin typeface="Yu Gothic" pitchFamily="34" charset="0"/>
                <a:ea typeface="Yu Gothic" pitchFamily="34" charset="-122"/>
                <a:cs typeface="Yu Gothic" pitchFamily="34" charset="-120"/>
              </a:rPr>
              <a:t>概要</a:t>
            </a:r>
            <a:endParaRPr lang="en-US" sz="2400" dirty="0"/>
          </a:p>
        </p:txBody>
      </p:sp>
      <p:sp>
        <p:nvSpPr>
          <p:cNvPr id="7" name="Text 5"/>
          <p:cNvSpPr/>
          <p:nvPr/>
        </p:nvSpPr>
        <p:spPr>
          <a:xfrm>
            <a:off x="868680" y="2542032"/>
            <a:ext cx="10469880" cy="2148840"/>
          </a:xfrm>
          <a:prstGeom prst="rect">
            <a:avLst/>
          </a:prstGeom>
          <a:noFill/>
          <a:ln/>
        </p:spPr>
        <p:txBody>
          <a:bodyPr wrap="square" lIns="254" tIns="254" rIns="254" bIns="254" rtlCol="0" anchor="t">
            <a:normAutofit/>
          </a:bodyPr>
          <a:lstStyle/>
          <a:p>
            <a:pPr indent="0" marL="0">
              <a:buNone/>
            </a:pPr>
            <a:r>
              <a:rPr lang="en-US" sz="2200" dirty="0">
                <a:solidFill>
                  <a:srgbClr val="222222"/>
                </a:solidFill>
                <a:latin typeface="Yu Gothic" pitchFamily="34" charset="0"/>
                <a:ea typeface="Yu Gothic" pitchFamily="34" charset="-122"/>
                <a:cs typeface="Yu Gothic" pitchFamily="34" charset="-120"/>
              </a:rPr>
              <a:t>ここまでの状況付与とtraining.pcapから、初動調査結果の共有メモを作成します。</a:t>
            </a:r>
            <a:endParaRPr lang="en-US" sz="2200" dirty="0"/>
          </a:p>
          <a:p>
            <a:pPr indent="0" marL="0">
              <a:buNone/>
            </a:pPr>
            <a:r>
              <a:rPr lang="en-US" sz="2200" dirty="0">
                <a:solidFill>
                  <a:srgbClr val="222222"/>
                </a:solidFill>
                <a:latin typeface="Yu Gothic" pitchFamily="34" charset="0"/>
                <a:ea typeface="Yu Gothic" pitchFamily="34" charset="-122"/>
                <a:cs typeface="Yu Gothic" pitchFamily="34" charset="-120"/>
              </a:rPr>
              <a:t>事実、推測、未確認事項、PCAPで確認できたことを分けてください。</a:t>
            </a:r>
            <a:endParaRPr lang="en-US" sz="2200" dirty="0"/>
          </a:p>
          <a:p>
            <a:pPr indent="0" marL="0">
              <a:buNone/>
            </a:pPr>
            <a:r>
              <a:rPr lang="en-US" sz="2200" dirty="0">
                <a:solidFill>
                  <a:srgbClr val="222222"/>
                </a:solidFill>
                <a:latin typeface="Yu Gothic" pitchFamily="34" charset="0"/>
                <a:ea typeface="Yu Gothic" pitchFamily="34" charset="-122"/>
                <a:cs typeface="Yu Gothic" pitchFamily="34" charset="-120"/>
              </a:rPr>
              <a:t>PCAPだけでは分からないことと、追加で確認すべきログも整理します。</a:t>
            </a:r>
            <a:endParaRPr lang="en-US" sz="2200" dirty="0"/>
          </a:p>
          <a:p>
            <a:pPr indent="0" marL="0">
              <a:buNone/>
            </a:pPr>
            <a:r>
              <a:rPr lang="en-US" sz="2200" dirty="0">
                <a:solidFill>
                  <a:srgbClr val="222222"/>
                </a:solidFill>
                <a:latin typeface="Yu Gothic" pitchFamily="34" charset="0"/>
                <a:ea typeface="Yu Gothic" pitchFamily="34" charset="-122"/>
                <a:cs typeface="Yu Gothic" pitchFamily="34" charset="-120"/>
              </a:rPr>
              <a:t>SOC / CSIRT内で共有・エスカレーションすべき内容も判断してください。</a:t>
            </a:r>
            <a:endParaRPr lang="en-US" sz="2200" dirty="0"/>
          </a:p>
        </p:txBody>
      </p:sp>
      <p:sp>
        <p:nvSpPr>
          <p:cNvPr id="8" name="Shape 6"/>
          <p:cNvSpPr/>
          <p:nvPr/>
        </p:nvSpPr>
        <p:spPr>
          <a:xfrm>
            <a:off x="822960" y="5193792"/>
            <a:ext cx="10607040" cy="1024128"/>
          </a:xfrm>
          <a:prstGeom prst="rect">
            <a:avLst/>
          </a:prstGeom>
          <a:solidFill>
            <a:srgbClr val="F2F2F2"/>
          </a:solidFill>
          <a:ln w="12700">
            <a:solidFill>
              <a:srgbClr val="D9D9D9"/>
            </a:solidFill>
            <a:prstDash val="solid"/>
          </a:ln>
        </p:spPr>
      </p:sp>
      <p:sp>
        <p:nvSpPr>
          <p:cNvPr id="9" name="Text 7"/>
          <p:cNvSpPr/>
          <p:nvPr/>
        </p:nvSpPr>
        <p:spPr>
          <a:xfrm>
            <a:off x="1042416" y="5376672"/>
            <a:ext cx="1325880" cy="320040"/>
          </a:xfrm>
          <a:prstGeom prst="rect">
            <a:avLst/>
          </a:prstGeom>
          <a:noFill/>
          <a:ln/>
        </p:spPr>
        <p:txBody>
          <a:bodyPr wrap="square" lIns="0" tIns="0" rIns="0" bIns="0" rtlCol="0" anchor="ctr">
            <a:normAutofit/>
          </a:bodyPr>
          <a:lstStyle/>
          <a:p>
            <a:pPr indent="0" marL="0">
              <a:buNone/>
            </a:pPr>
            <a:r>
              <a:rPr lang="en-US" sz="2400" b="1" dirty="0">
                <a:solidFill>
                  <a:srgbClr val="17365D"/>
                </a:solidFill>
                <a:latin typeface="Yu Gothic" pitchFamily="34" charset="0"/>
                <a:ea typeface="Yu Gothic" pitchFamily="34" charset="-122"/>
                <a:cs typeface="Yu Gothic" pitchFamily="34" charset="-120"/>
              </a:rPr>
              <a:t>ヒント</a:t>
            </a:r>
            <a:endParaRPr lang="en-US" sz="2400" dirty="0"/>
          </a:p>
        </p:txBody>
      </p:sp>
      <p:sp>
        <p:nvSpPr>
          <p:cNvPr id="10" name="Text 8"/>
          <p:cNvSpPr/>
          <p:nvPr/>
        </p:nvSpPr>
        <p:spPr>
          <a:xfrm>
            <a:off x="2487168" y="5330952"/>
            <a:ext cx="8641080" cy="566928"/>
          </a:xfrm>
          <a:prstGeom prst="rect">
            <a:avLst/>
          </a:prstGeom>
          <a:noFill/>
          <a:ln/>
        </p:spPr>
        <p:txBody>
          <a:bodyPr wrap="square" lIns="254" tIns="254" rIns="254" bIns="254" rtlCol="0" anchor="ctr">
            <a:normAutofit/>
          </a:bodyPr>
          <a:lstStyle/>
          <a:p>
            <a:pPr indent="0" marL="0">
              <a:buNone/>
            </a:pPr>
            <a:r>
              <a:rPr lang="en-US" sz="2000" dirty="0">
                <a:solidFill>
                  <a:srgbClr val="222222"/>
                </a:solidFill>
                <a:latin typeface="Yu Gothic" pitchFamily="34" charset="0"/>
                <a:ea typeface="Yu Gothic" pitchFamily="34" charset="-122"/>
                <a:cs typeface="Yu Gothic" pitchFamily="34" charset="-120"/>
              </a:rPr>
              <a:t>最終案は「断定しない表現」と「次に取る行動」を明確にしてください。</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Shimada Laboratory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状況付与カード</dc:title>
  <dc:subject>SOC/CSIRT初任者向け状況付与カード</dc:subject>
  <dc:creator>OpenAI</dc:creator>
  <cp:lastModifiedBy>OpenAI</cp:lastModifiedBy>
  <cp:revision>1</cp:revision>
  <dcterms:created xsi:type="dcterms:W3CDTF">2026-08-11T05:06:06Z</dcterms:created>
  <dcterms:modified xsi:type="dcterms:W3CDTF">2026-08-11T05:06:06Z</dcterms:modified>
</cp:coreProperties>
</file>